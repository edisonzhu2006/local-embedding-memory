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71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14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8"/>
    <p:restoredTop sz="94665"/>
  </p:normalViewPr>
  <p:slideViewPr>
    <p:cSldViewPr snapToGrid="0" snapToObjects="1">
      <p:cViewPr>
        <p:scale>
          <a:sx n="283" d="100"/>
          <a:sy n="283" d="100"/>
        </p:scale>
        <p:origin x="-7072" y="-173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324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B5CCB-A3C7-DF4D-BAC5-81C63D17FE03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89E7A-EA36-BF47-95F1-F35DF5E40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89E7A-EA36-BF47-95F1-F35DF5E40C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4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7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7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31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7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40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9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9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26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3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23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BEE69-2E78-1945-BC16-4D31710F65BA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55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8C780-063A-C6C9-DD58-06A73B667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8C50A7EA-9B8F-1295-E15D-E8DECAA18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31" y="492949"/>
            <a:ext cx="2243022" cy="18479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D4800D-C460-B417-E514-692996E14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809" y="4061400"/>
            <a:ext cx="2177430" cy="628379"/>
          </a:xfrm>
          <a:prstGeom prst="rect">
            <a:avLst/>
          </a:prstGeom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84AC2F4E-D9EA-B744-CE62-5F4AB58C5973}"/>
              </a:ext>
            </a:extLst>
          </p:cNvPr>
          <p:cNvSpPr/>
          <p:nvPr/>
        </p:nvSpPr>
        <p:spPr>
          <a:xfrm>
            <a:off x="3133036" y="564272"/>
            <a:ext cx="3041876" cy="14629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063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2125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8188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4251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0314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6376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52439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88502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E449D66-068B-7018-7E23-7B04195B3E6E}"/>
              </a:ext>
            </a:extLst>
          </p:cNvPr>
          <p:cNvSpPr/>
          <p:nvPr/>
        </p:nvSpPr>
        <p:spPr>
          <a:xfrm>
            <a:off x="6334207" y="2328470"/>
            <a:ext cx="2733800" cy="17466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063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2125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8188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4251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0314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6376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52439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88502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222D80D-714B-BBDC-3389-21A25685E42E}"/>
              </a:ext>
            </a:extLst>
          </p:cNvPr>
          <p:cNvSpPr/>
          <p:nvPr/>
        </p:nvSpPr>
        <p:spPr>
          <a:xfrm>
            <a:off x="3124520" y="3127467"/>
            <a:ext cx="3045738" cy="932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063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2125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8188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4251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0314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6376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52439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88502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2ABDEFA-FBC9-1C29-03CC-2D7EBB682BAC}"/>
              </a:ext>
            </a:extLst>
          </p:cNvPr>
          <p:cNvSpPr/>
          <p:nvPr/>
        </p:nvSpPr>
        <p:spPr>
          <a:xfrm>
            <a:off x="69417" y="564273"/>
            <a:ext cx="2886262" cy="1311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063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2125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8188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4251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0314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6376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52439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88502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1E82D1-5260-6850-B2B9-F1F717013562}"/>
              </a:ext>
            </a:extLst>
          </p:cNvPr>
          <p:cNvSpPr txBox="1"/>
          <p:nvPr/>
        </p:nvSpPr>
        <p:spPr>
          <a:xfrm>
            <a:off x="1528499" y="0"/>
            <a:ext cx="6417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063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2125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8188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4251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0314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6376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52439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88502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Long-Term Local Memory For Robot Reasoning and Navigation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2D342DF-D731-9158-1DA8-004282F55507}"/>
              </a:ext>
            </a:extLst>
          </p:cNvPr>
          <p:cNvCxnSpPr>
            <a:cxnSpLocks/>
          </p:cNvCxnSpPr>
          <p:nvPr/>
        </p:nvCxnSpPr>
        <p:spPr>
          <a:xfrm>
            <a:off x="-208493" y="498591"/>
            <a:ext cx="93206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FEA0DC-3485-35C0-16F8-DBE522B1A7EF}"/>
              </a:ext>
            </a:extLst>
          </p:cNvPr>
          <p:cNvSpPr txBox="1"/>
          <p:nvPr/>
        </p:nvSpPr>
        <p:spPr>
          <a:xfrm>
            <a:off x="19237" y="541908"/>
            <a:ext cx="1912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063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2125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8188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4251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0314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6376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52439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88502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ED7D31"/>
                </a:solidFill>
              </a:rPr>
              <a:t>How can robots remember?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6B58790-295E-155A-F879-C713A955D2DA}"/>
              </a:ext>
            </a:extLst>
          </p:cNvPr>
          <p:cNvSpPr txBox="1"/>
          <p:nvPr/>
        </p:nvSpPr>
        <p:spPr>
          <a:xfrm>
            <a:off x="3128382" y="547818"/>
            <a:ext cx="30332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063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2125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8188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4251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0314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6376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52439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88502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ED7D31"/>
                </a:solidFill>
              </a:rPr>
              <a:t>How well can RAVEN run without the agent, using local models? 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623A945-866E-C78E-7DCB-5B88A63D0A27}"/>
              </a:ext>
            </a:extLst>
          </p:cNvPr>
          <p:cNvCxnSpPr>
            <a:cxnSpLocks/>
          </p:cNvCxnSpPr>
          <p:nvPr/>
        </p:nvCxnSpPr>
        <p:spPr>
          <a:xfrm>
            <a:off x="3055354" y="491147"/>
            <a:ext cx="0" cy="63668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151029E5-AC1C-CDBB-DEDA-E0E0FD9A9676}"/>
              </a:ext>
            </a:extLst>
          </p:cNvPr>
          <p:cNvCxnSpPr>
            <a:cxnSpLocks/>
          </p:cNvCxnSpPr>
          <p:nvPr/>
        </p:nvCxnSpPr>
        <p:spPr>
          <a:xfrm>
            <a:off x="6247939" y="499940"/>
            <a:ext cx="0" cy="63580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FA873C3-51FF-4014-E70F-EE237AF5ED48}"/>
              </a:ext>
            </a:extLst>
          </p:cNvPr>
          <p:cNvSpPr/>
          <p:nvPr/>
        </p:nvSpPr>
        <p:spPr>
          <a:xfrm>
            <a:off x="62917" y="767403"/>
            <a:ext cx="2836269" cy="11079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063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2125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8188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4251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0314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6376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52439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88502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Long-term deployment demands memory that is </a:t>
            </a:r>
            <a:r>
              <a:rPr lang="en-US" sz="800" b="1" dirty="0"/>
              <a:t>compact</a:t>
            </a:r>
            <a:r>
              <a:rPr lang="en-US" sz="800" dirty="0"/>
              <a:t> (scales to days of experience), </a:t>
            </a:r>
            <a:r>
              <a:rPr lang="en-US" sz="800" b="1" dirty="0"/>
              <a:t>information-rich</a:t>
            </a:r>
            <a:r>
              <a:rPr lang="en-US" sz="800" dirty="0"/>
              <a:t> (preserves fine-grained visual detail), and </a:t>
            </a:r>
            <a:r>
              <a:rPr lang="en-US" sz="800" b="1" dirty="0"/>
              <a:t>grounded</a:t>
            </a:r>
            <a:r>
              <a:rPr lang="en-US" sz="800" dirty="0"/>
              <a:t> (in space and time).</a:t>
            </a:r>
          </a:p>
          <a:p>
            <a:endParaRPr lang="en-US" sz="200" dirty="0"/>
          </a:p>
          <a:p>
            <a:r>
              <a:rPr lang="en-US" sz="800" dirty="0"/>
              <a:t>Today's memory systems fail at least one:</a:t>
            </a:r>
          </a:p>
          <a:p>
            <a:r>
              <a:rPr lang="en-US" sz="800" b="1" dirty="0"/>
              <a:t>Categorical maps</a:t>
            </a:r>
            <a:r>
              <a:rPr lang="en-US" sz="800" dirty="0"/>
              <a:t> → closed vocabulary, no fine detail.</a:t>
            </a:r>
          </a:p>
          <a:p>
            <a:r>
              <a:rPr lang="en-US" sz="800" b="1" dirty="0"/>
              <a:t>Raw video</a:t>
            </a:r>
            <a:r>
              <a:rPr lang="en-US" sz="800" dirty="0"/>
              <a:t> → too large to store, too redundant to search.</a:t>
            </a:r>
          </a:p>
          <a:p>
            <a:r>
              <a:rPr lang="en-US" sz="800" b="1" dirty="0"/>
              <a:t>Caption-based memory</a:t>
            </a:r>
            <a:r>
              <a:rPr lang="en-US" sz="800" dirty="0"/>
              <a:t> → lossy image-to-text bottleneck; loses </a:t>
            </a:r>
          </a:p>
          <a:p>
            <a:r>
              <a:rPr lang="en-US" sz="800" dirty="0"/>
              <a:t>pixel-level details and textures.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095E2-E526-2515-4C8C-FEC80E5F6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911" y="116658"/>
            <a:ext cx="1237931" cy="274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E990F3-EFFE-7569-6535-2389E7E16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22" y="118140"/>
            <a:ext cx="1099108" cy="2951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AEAB810-AB6F-97A9-033C-E068B3D7D231}"/>
              </a:ext>
            </a:extLst>
          </p:cNvPr>
          <p:cNvSpPr txBox="1"/>
          <p:nvPr/>
        </p:nvSpPr>
        <p:spPr>
          <a:xfrm>
            <a:off x="3394003" y="259662"/>
            <a:ext cx="2304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Edison Zhu, Yixun Hu, Dhruv Shah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25DC53-0D56-92EB-B54F-AF7CD1FAEAFB}"/>
              </a:ext>
            </a:extLst>
          </p:cNvPr>
          <p:cNvSpPr/>
          <p:nvPr/>
        </p:nvSpPr>
        <p:spPr>
          <a:xfrm>
            <a:off x="65398" y="3212996"/>
            <a:ext cx="2920791" cy="1503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063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2125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8188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4251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0314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6376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52439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88502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b="1" dirty="0">
              <a:solidFill>
                <a:srgbClr val="ED7D3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09D318-B351-5C83-06AD-C3622E3ED504}"/>
              </a:ext>
            </a:extLst>
          </p:cNvPr>
          <p:cNvSpPr txBox="1"/>
          <p:nvPr/>
        </p:nvSpPr>
        <p:spPr>
          <a:xfrm>
            <a:off x="19237" y="3230361"/>
            <a:ext cx="12500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ED7D31"/>
                </a:solidFill>
              </a:rPr>
              <a:t>What is RAVEN?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5A3D42-4EB8-CA8B-B456-BD8859A49E68}"/>
              </a:ext>
            </a:extLst>
          </p:cNvPr>
          <p:cNvSpPr txBox="1"/>
          <p:nvPr/>
        </p:nvSpPr>
        <p:spPr>
          <a:xfrm>
            <a:off x="64304" y="3485399"/>
            <a:ext cx="288702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dirty="0"/>
              <a:t>RAVEN encodes each robot-view frame with a multimodal encoder and stores it with pose and timestamp in a vector database. A VLM agent retrieves and reasons over these memories iteratively, by semantics, space, or time, to produce text answers and navigation goals.</a:t>
            </a:r>
          </a:p>
          <a:p>
            <a:pPr algn="l"/>
            <a:endParaRPr lang="en-US" sz="200" dirty="0"/>
          </a:p>
          <a:p>
            <a:pPr algn="l"/>
            <a:r>
              <a:rPr lang="en-US" sz="800" b="1" dirty="0"/>
              <a:t>Memory entry:</a:t>
            </a:r>
            <a:r>
              <a:rPr lang="en-US" sz="800" dirty="0"/>
              <a:t> </a:t>
            </a:r>
            <a:r>
              <a:rPr lang="en-US" sz="800" i="1" dirty="0"/>
              <a:t>(visual embedding, position, timestamp)</a:t>
            </a:r>
            <a:endParaRPr lang="en-US" sz="800" dirty="0"/>
          </a:p>
          <a:p>
            <a:pPr algn="l"/>
            <a:r>
              <a:rPr lang="en-US" sz="800" dirty="0"/>
              <a:t>✓ </a:t>
            </a:r>
            <a:r>
              <a:rPr lang="en-US" sz="800" b="1" dirty="0"/>
              <a:t>Compact</a:t>
            </a:r>
            <a:r>
              <a:rPr lang="en-US" sz="800" dirty="0"/>
              <a:t> — sub-linear vector retrieval; scales more easily</a:t>
            </a:r>
          </a:p>
          <a:p>
            <a:pPr algn="l"/>
            <a:r>
              <a:rPr lang="en-US" sz="800" dirty="0"/>
              <a:t>✓ </a:t>
            </a:r>
            <a:r>
              <a:rPr lang="en-US" sz="800" b="1" dirty="0"/>
              <a:t>Information-rich</a:t>
            </a:r>
            <a:r>
              <a:rPr lang="en-US" sz="800" dirty="0"/>
              <a:t> —preserves texture and detail; no captioning</a:t>
            </a:r>
          </a:p>
          <a:p>
            <a:pPr algn="l"/>
            <a:r>
              <a:rPr lang="en-US" sz="800" dirty="0"/>
              <a:t>✓ </a:t>
            </a:r>
            <a:r>
              <a:rPr lang="en-US" sz="800" b="1" dirty="0"/>
              <a:t>Grounded</a:t>
            </a:r>
            <a:r>
              <a:rPr lang="en-US" sz="800" dirty="0"/>
              <a:t> — pose + time enable spatial and temporal queries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5892D3-07D8-B9EA-0E19-B1DF1B966B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6" y="4802418"/>
            <a:ext cx="3012636" cy="17382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08D7B4-6A81-AF8A-134D-EBD7E0D953AD}"/>
              </a:ext>
            </a:extLst>
          </p:cNvPr>
          <p:cNvSpPr txBox="1"/>
          <p:nvPr/>
        </p:nvSpPr>
        <p:spPr>
          <a:xfrm>
            <a:off x="3198078" y="931441"/>
            <a:ext cx="286921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dirty="0"/>
              <a:t>RAVEN pairs an embedder with a VLM agent that reasons iteratively over retrieved memories. The agent adds compute, latency, and a dependency on closed-source frontier APIs: none of which work offline on a real robot.</a:t>
            </a:r>
          </a:p>
          <a:p>
            <a:pPr algn="l"/>
            <a:endParaRPr lang="en-US" sz="200" dirty="0"/>
          </a:p>
          <a:p>
            <a:pPr algn="l"/>
            <a:r>
              <a:rPr lang="en-US" sz="800" dirty="0"/>
              <a:t>This work tests two local configurations:</a:t>
            </a:r>
          </a:p>
          <a:p>
            <a:pPr algn="l"/>
            <a:r>
              <a:rPr lang="en-US" sz="800" b="1" dirty="0"/>
              <a:t>1. Embedder-only retrieval: </a:t>
            </a:r>
            <a:r>
              <a:rPr lang="en-US" sz="800" dirty="0"/>
              <a:t>a single nearest-neighbor lookup. No agent, no reasoning, no iteration.</a:t>
            </a:r>
          </a:p>
          <a:p>
            <a:pPr algn="l"/>
            <a:r>
              <a:rPr lang="en-US" sz="800" b="1" dirty="0"/>
              <a:t>2. Full RAVEN with an open-source VLM</a:t>
            </a:r>
            <a:r>
              <a:rPr lang="en-US" sz="800" dirty="0"/>
              <a:t> in the agentic loop.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C57819-0468-FB34-FB54-3387D99A14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46" y="1979006"/>
            <a:ext cx="2993352" cy="121408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B82C2D6-5CEB-6649-E657-64BA2106687B}"/>
              </a:ext>
            </a:extLst>
          </p:cNvPr>
          <p:cNvSpPr txBox="1"/>
          <p:nvPr/>
        </p:nvSpPr>
        <p:spPr>
          <a:xfrm>
            <a:off x="3106515" y="3111573"/>
            <a:ext cx="9839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ED7D31"/>
                </a:solidFill>
              </a:rPr>
              <a:t>Methodology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9A5DF7-6B69-426D-7D83-6982A1537375}"/>
              </a:ext>
            </a:extLst>
          </p:cNvPr>
          <p:cNvSpPr txBox="1"/>
          <p:nvPr/>
        </p:nvSpPr>
        <p:spPr>
          <a:xfrm>
            <a:off x="3148208" y="3293074"/>
            <a:ext cx="29488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700" dirty="0"/>
              <a:t>We ran every model on the same trajectory: </a:t>
            </a:r>
            <a:r>
              <a:rPr lang="en-US" sz="700" b="1" dirty="0"/>
              <a:t>843 egocentric frames        (~14 minutes)</a:t>
            </a:r>
            <a:r>
              <a:rPr lang="en-US" sz="700" dirty="0"/>
              <a:t> captured by an agent walking through an indoor Habitat residence: living room, kitchen, bath, and dining.</a:t>
            </a:r>
          </a:p>
          <a:p>
            <a:pPr algn="l"/>
            <a:endParaRPr lang="en-US" sz="200" dirty="0"/>
          </a:p>
          <a:p>
            <a:pPr algn="l"/>
            <a:r>
              <a:rPr lang="en-US" sz="700" dirty="0"/>
              <a:t>We authored a </a:t>
            </a:r>
            <a:r>
              <a:rPr lang="en-US" sz="700" b="1" dirty="0"/>
              <a:t>tiered</a:t>
            </a:r>
            <a:r>
              <a:rPr lang="en-US" sz="700" dirty="0"/>
              <a:t> </a:t>
            </a:r>
            <a:r>
              <a:rPr lang="en-US" sz="700" b="1" dirty="0"/>
              <a:t>19-question benchmark </a:t>
            </a:r>
            <a:r>
              <a:rPr lang="en-US" sz="700" dirty="0"/>
              <a:t>over that trajectory. Each level isolates a different capability, so we can pinpoint where on the difficulty curve the VLM agent stops being optional.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944E32-17F6-BF53-ED42-27E9F02FD3D1}"/>
              </a:ext>
            </a:extLst>
          </p:cNvPr>
          <p:cNvSpPr txBox="1"/>
          <p:nvPr/>
        </p:nvSpPr>
        <p:spPr>
          <a:xfrm>
            <a:off x="6306591" y="2341781"/>
            <a:ext cx="1981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ED7D31"/>
                </a:solidFill>
              </a:rPr>
              <a:t>What did we learn?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FF4930B-0D41-5392-62AD-EA4F4724DE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0453" y="2142658"/>
            <a:ext cx="1458874" cy="849148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EC5E9FC-E0D0-1DC9-020A-56035D468D52}"/>
              </a:ext>
            </a:extLst>
          </p:cNvPr>
          <p:cNvSpPr txBox="1"/>
          <p:nvPr/>
        </p:nvSpPr>
        <p:spPr>
          <a:xfrm>
            <a:off x="6372927" y="2504063"/>
            <a:ext cx="273278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700" b="1" dirty="0"/>
              <a:t>Yes, RAVEN runs offline.</a:t>
            </a:r>
            <a:r>
              <a:rPr lang="en-US" sz="700" dirty="0"/>
              <a:t> A local open VLM agent, Gemma 4, on top of </a:t>
            </a:r>
            <a:r>
              <a:rPr lang="en-US" sz="700" b="1" dirty="0"/>
              <a:t>QQMM</a:t>
            </a:r>
            <a:r>
              <a:rPr lang="en-US" sz="700" dirty="0"/>
              <a:t> lifts our system from </a:t>
            </a:r>
            <a:r>
              <a:rPr lang="en-US" sz="700" b="1" dirty="0"/>
              <a:t>42% to 82%</a:t>
            </a:r>
            <a:r>
              <a:rPr lang="en-US" sz="700" dirty="0"/>
              <a:t> on the 19-question suite: and that +40 pp gain is concentrated on L3 spatial (+75 pp), L4 multi-step (+38 pp), and L5 negation (+37 pp).</a:t>
            </a:r>
          </a:p>
          <a:p>
            <a:pPr algn="l"/>
            <a:endParaRPr lang="en-US" sz="300" dirty="0"/>
          </a:p>
          <a:p>
            <a:pPr algn="l"/>
            <a:r>
              <a:rPr lang="en-US" sz="700" dirty="0"/>
              <a:t>The retriever determines what is </a:t>
            </a:r>
            <a:r>
              <a:rPr lang="en-US" sz="700" b="1" dirty="0"/>
              <a:t>findable</a:t>
            </a:r>
            <a:r>
              <a:rPr lang="en-US" sz="700" dirty="0"/>
              <a:t>; the agent determines what is </a:t>
            </a:r>
            <a:r>
              <a:rPr lang="en-US" sz="700" b="1" dirty="0"/>
              <a:t>answerable</a:t>
            </a:r>
            <a:r>
              <a:rPr lang="en-US" sz="700" dirty="0"/>
              <a:t>. Embedder-only is a hard ceiling at direct localization (L1) and partial concept generalization (L2) — the agent earns its compute only on the hard half of the suite.</a:t>
            </a:r>
          </a:p>
          <a:p>
            <a:pPr algn="l"/>
            <a:endParaRPr lang="en-US" sz="300" dirty="0"/>
          </a:p>
          <a:p>
            <a:pPr algn="l"/>
            <a:r>
              <a:rPr lang="en-US" sz="700" b="1" dirty="0"/>
              <a:t>Failure cases are split across both layers:</a:t>
            </a:r>
            <a:endParaRPr lang="en-US" sz="700" dirty="0"/>
          </a:p>
          <a:p>
            <a:pPr algn="l"/>
            <a:r>
              <a:rPr lang="en-US" sz="700" b="1" dirty="0"/>
              <a:t>1. Retrieval-side</a:t>
            </a:r>
            <a:r>
              <a:rPr lang="en-US" sz="700" dirty="0"/>
              <a:t> — embedder fails on abstract/temporal queries </a:t>
            </a:r>
          </a:p>
          <a:p>
            <a:pPr algn="l"/>
            <a:r>
              <a:rPr lang="en-US" sz="700" dirty="0"/>
              <a:t>and confuses similar surfaces (marble floor → countertop)</a:t>
            </a:r>
          </a:p>
          <a:p>
            <a:pPr algn="l"/>
            <a:r>
              <a:rPr lang="en-US" sz="700" b="1" dirty="0"/>
              <a:t>2. Agent-side</a:t>
            </a:r>
            <a:r>
              <a:rPr lang="en-US" sz="700" dirty="0"/>
              <a:t> — retrieval loops on out-of-distribution objects and context carryover from prior wrong answers.</a:t>
            </a:r>
          </a:p>
          <a:p>
            <a:pPr algn="l"/>
            <a:endParaRPr lang="en-US" sz="7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7E403B-04F3-B382-F5EB-8889D57C256C}"/>
              </a:ext>
            </a:extLst>
          </p:cNvPr>
          <p:cNvSpPr/>
          <p:nvPr/>
        </p:nvSpPr>
        <p:spPr>
          <a:xfrm>
            <a:off x="6319202" y="4687110"/>
            <a:ext cx="2719406" cy="1078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063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2125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8188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4251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0314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6376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52439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88502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B7D37-1968-DF3A-3D6C-C4BAA315B062}"/>
              </a:ext>
            </a:extLst>
          </p:cNvPr>
          <p:cNvSpPr txBox="1"/>
          <p:nvPr/>
        </p:nvSpPr>
        <p:spPr>
          <a:xfrm>
            <a:off x="6262711" y="4652675"/>
            <a:ext cx="9610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ED7D31"/>
                </a:solidFill>
              </a:rPr>
              <a:t>Future Work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E8F88-EF9B-7AE4-E562-A227631DF267}"/>
              </a:ext>
            </a:extLst>
          </p:cNvPr>
          <p:cNvSpPr txBox="1"/>
          <p:nvPr/>
        </p:nvSpPr>
        <p:spPr>
          <a:xfrm>
            <a:off x="1894023" y="6608001"/>
            <a:ext cx="121249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0" i="1" dirty="0">
                <a:solidFill>
                  <a:srgbClr val="000000"/>
                </a:solidFill>
                <a:effectLst/>
                <a:latin typeface="-apple-system"/>
              </a:rPr>
              <a:t>Figure from Hu, Zheng, et al. [1].</a:t>
            </a:r>
            <a:endParaRPr lang="en-US" sz="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487A98-4F56-6DE0-A8F0-FC09EACBE184}"/>
              </a:ext>
            </a:extLst>
          </p:cNvPr>
          <p:cNvSpPr/>
          <p:nvPr/>
        </p:nvSpPr>
        <p:spPr>
          <a:xfrm>
            <a:off x="6311197" y="5840729"/>
            <a:ext cx="2739645" cy="9519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063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2125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8188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4251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0314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6376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52439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88502" algn="l" defTabSz="272125" rtl="0" eaLnBrk="1" latinLnBrk="0" hangingPunct="1">
              <a:defRPr sz="5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611392-EBF8-9E5C-A81C-D19C12B6C48C}"/>
              </a:ext>
            </a:extLst>
          </p:cNvPr>
          <p:cNvSpPr txBox="1"/>
          <p:nvPr/>
        </p:nvSpPr>
        <p:spPr>
          <a:xfrm>
            <a:off x="6262711" y="5830715"/>
            <a:ext cx="225942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ED7D31"/>
                </a:solidFill>
              </a:rPr>
              <a:t>References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F96319-82AB-4B1D-4647-8460E9EEEDCA}"/>
              </a:ext>
            </a:extLst>
          </p:cNvPr>
          <p:cNvSpPr txBox="1"/>
          <p:nvPr/>
        </p:nvSpPr>
        <p:spPr>
          <a:xfrm>
            <a:off x="6278309" y="5979405"/>
            <a:ext cx="2801191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50" dirty="0"/>
              <a:t>[1] Y. Hu, Z. Zheng, L. Zha, C. Xing, R. Singh, O. Hossain, A. Loquercio, D. Shah. </a:t>
            </a:r>
            <a:r>
              <a:rPr lang="en-US" sz="450" b="1" dirty="0"/>
              <a:t>RAVEN</a:t>
            </a:r>
            <a:r>
              <a:rPr lang="en-US" sz="450" dirty="0"/>
              <a:t>: Long-Horizon Reasoning and Navigation with a Visuo-Spatial-Temporal Memory. </a:t>
            </a:r>
            <a:r>
              <a:rPr lang="en-US" sz="450" i="1" dirty="0"/>
              <a:t>RSS</a:t>
            </a:r>
            <a:r>
              <a:rPr lang="en-US" sz="450" dirty="0"/>
              <a:t>, 2026.</a:t>
            </a:r>
          </a:p>
          <a:p>
            <a:pPr algn="l"/>
            <a:r>
              <a:rPr lang="en-US" sz="450" dirty="0"/>
              <a:t>[2] A. Anwar et al. </a:t>
            </a:r>
            <a:r>
              <a:rPr lang="en-US" sz="450" b="1" dirty="0" err="1"/>
              <a:t>ReMEmbR</a:t>
            </a:r>
            <a:r>
              <a:rPr lang="en-US" sz="450" dirty="0"/>
              <a:t>: Building and Reasoning Over Long-Horizon </a:t>
            </a:r>
            <a:r>
              <a:rPr lang="en-US" sz="450" dirty="0" err="1"/>
              <a:t>Spatio</a:t>
            </a:r>
            <a:r>
              <a:rPr lang="en-US" sz="450" dirty="0"/>
              <a:t>-Temporal Memory for Robot Navigation. 2024.</a:t>
            </a:r>
          </a:p>
          <a:p>
            <a:pPr algn="l"/>
            <a:r>
              <a:rPr lang="en-US" sz="450" dirty="0"/>
              <a:t>[3] A. Radford et al. Learning Transferable Visual Models from Natural Language Supervision (</a:t>
            </a:r>
            <a:r>
              <a:rPr lang="en-US" sz="450" b="1" dirty="0"/>
              <a:t>CLIP</a:t>
            </a:r>
            <a:r>
              <a:rPr lang="en-US" sz="450" dirty="0"/>
              <a:t>). </a:t>
            </a:r>
            <a:r>
              <a:rPr lang="en-US" sz="450" i="1" dirty="0"/>
              <a:t>ICML</a:t>
            </a:r>
            <a:r>
              <a:rPr lang="en-US" sz="450" dirty="0"/>
              <a:t>, 2021.</a:t>
            </a:r>
          </a:p>
          <a:p>
            <a:pPr algn="l"/>
            <a:r>
              <a:rPr lang="en-US" sz="450" dirty="0"/>
              <a:t>[4] X. Zhai et al. Sigmoid Loss for Language-Image Pre-training (</a:t>
            </a:r>
            <a:r>
              <a:rPr lang="en-US" sz="450" b="1" dirty="0" err="1"/>
              <a:t>SigLIP</a:t>
            </a:r>
            <a:r>
              <a:rPr lang="en-US" sz="450" dirty="0"/>
              <a:t>). </a:t>
            </a:r>
            <a:r>
              <a:rPr lang="en-US" sz="450" i="1" dirty="0"/>
              <a:t>ICCV</a:t>
            </a:r>
            <a:r>
              <a:rPr lang="en-US" sz="450" dirty="0"/>
              <a:t>, 2023.</a:t>
            </a:r>
          </a:p>
          <a:p>
            <a:pPr algn="l"/>
            <a:r>
              <a:rPr lang="en-US" sz="450" dirty="0"/>
              <a:t>[5] Z. Xue et al. </a:t>
            </a:r>
            <a:r>
              <a:rPr lang="en-US" sz="450" b="1" dirty="0"/>
              <a:t>QQMM-embed-v2</a:t>
            </a:r>
            <a:r>
              <a:rPr lang="en-US" sz="450" dirty="0"/>
              <a:t>. </a:t>
            </a:r>
            <a:r>
              <a:rPr lang="en-US" sz="450" dirty="0" err="1"/>
              <a:t>huggingface.co</a:t>
            </a:r>
            <a:r>
              <a:rPr lang="en-US" sz="450" dirty="0"/>
              <a:t>/</a:t>
            </a:r>
            <a:r>
              <a:rPr lang="en-US" sz="450" dirty="0" err="1"/>
              <a:t>youzexue</a:t>
            </a:r>
            <a:r>
              <a:rPr lang="en-US" sz="450" dirty="0"/>
              <a:t>/QQMM-embed-v2, 2025.</a:t>
            </a:r>
          </a:p>
          <a:p>
            <a:pPr algn="l"/>
            <a:r>
              <a:rPr lang="en-US" sz="450" dirty="0"/>
              <a:t>[6] J. Johnson, M. </a:t>
            </a:r>
            <a:r>
              <a:rPr lang="en-US" sz="450" dirty="0" err="1"/>
              <a:t>Douze</a:t>
            </a:r>
            <a:r>
              <a:rPr lang="en-US" sz="450" dirty="0"/>
              <a:t>, H. Jégou. Billion-scale similarity search with GPUs (</a:t>
            </a:r>
            <a:r>
              <a:rPr lang="en-US" sz="450" b="1" dirty="0"/>
              <a:t>FAISS</a:t>
            </a:r>
            <a:r>
              <a:rPr lang="en-US" sz="450" dirty="0"/>
              <a:t>). </a:t>
            </a:r>
            <a:r>
              <a:rPr lang="en-US" sz="450" i="1" dirty="0"/>
              <a:t>IEEE TBD</a:t>
            </a:r>
            <a:r>
              <a:rPr lang="en-US" sz="450" dirty="0"/>
              <a:t>, 2019.</a:t>
            </a:r>
          </a:p>
          <a:p>
            <a:pPr algn="l"/>
            <a:r>
              <a:rPr lang="en-US" sz="450" dirty="0"/>
              <a:t>[7] Habitat-Sim / Habitat AI Challenge. </a:t>
            </a:r>
            <a:r>
              <a:rPr lang="en-US" sz="450" dirty="0" err="1"/>
              <a:t>aihabitat.org</a:t>
            </a:r>
            <a:r>
              <a:rPr lang="en-US" sz="450" dirty="0"/>
              <a:t>.</a:t>
            </a:r>
          </a:p>
          <a:p>
            <a:pPr algn="l"/>
            <a:r>
              <a:rPr lang="en-US" sz="450" dirty="0"/>
              <a:t>[8] JIRL (UPenn). </a:t>
            </a:r>
            <a:r>
              <a:rPr lang="en-US" sz="450" b="1" dirty="0"/>
              <a:t>DARPA TIAMAT Competition Code</a:t>
            </a:r>
            <a:r>
              <a:rPr lang="en-US" sz="450" dirty="0"/>
              <a:t>. </a:t>
            </a:r>
            <a:r>
              <a:rPr lang="en-US" sz="450" dirty="0" err="1"/>
              <a:t>github.com</a:t>
            </a:r>
            <a:r>
              <a:rPr lang="en-US" sz="450" dirty="0"/>
              <a:t>/</a:t>
            </a:r>
            <a:r>
              <a:rPr lang="en-US" sz="450" dirty="0" err="1"/>
              <a:t>Jirl-upenn</a:t>
            </a:r>
            <a:r>
              <a:rPr lang="en-US" sz="450" dirty="0"/>
              <a:t>/</a:t>
            </a:r>
            <a:r>
              <a:rPr lang="en-US" sz="450" dirty="0" err="1"/>
              <a:t>darpa</a:t>
            </a:r>
            <a:r>
              <a:rPr lang="en-US" sz="450" dirty="0"/>
              <a:t>-</a:t>
            </a:r>
            <a:r>
              <a:rPr lang="en-US" sz="450" dirty="0" err="1"/>
              <a:t>tiamat</a:t>
            </a:r>
            <a:r>
              <a:rPr lang="en-US" sz="450" dirty="0"/>
              <a:t>-competition-code, 2025.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CDD1E6-CA6A-A344-FE97-709AA4C6DD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8810" y="2069354"/>
            <a:ext cx="847838" cy="97531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732E75F-C1C2-3184-4F50-4E2C7608CFF6}"/>
              </a:ext>
            </a:extLst>
          </p:cNvPr>
          <p:cNvSpPr txBox="1"/>
          <p:nvPr/>
        </p:nvSpPr>
        <p:spPr>
          <a:xfrm>
            <a:off x="6304525" y="4821288"/>
            <a:ext cx="28011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700" dirty="0"/>
              <a:t>The VLM agent loop costs </a:t>
            </a:r>
            <a:r>
              <a:rPr lang="en-US" sz="700" b="1" dirty="0"/>
              <a:t>2 - 6 VLM calls + tool-use overhead</a:t>
            </a:r>
            <a:r>
              <a:rPr lang="en-US" sz="700" dirty="0"/>
              <a:t> per query; the embedder is essentially free. On L1 and some questions for L2 the embedder already returns the right answer, so if we can decide </a:t>
            </a:r>
            <a:r>
              <a:rPr lang="en-US" sz="700" i="1" dirty="0"/>
              <a:t>per query</a:t>
            </a:r>
            <a:r>
              <a:rPr lang="en-US" sz="700" dirty="0"/>
              <a:t> whether to trust it, we skip the agent on every easy query. </a:t>
            </a:r>
          </a:p>
          <a:p>
            <a:pPr algn="l"/>
            <a:r>
              <a:rPr lang="en-US" sz="700" dirty="0"/>
              <a:t>Future work proposes three candidate gate mechanisms:</a:t>
            </a:r>
          </a:p>
          <a:p>
            <a:pPr algn="l"/>
            <a:r>
              <a:rPr lang="en-US" sz="700" b="1" dirty="0"/>
              <a:t>1. Cosine similarity threshold.</a:t>
            </a:r>
            <a:r>
              <a:rPr lang="en-US" sz="700" dirty="0"/>
              <a:t> Gate on retrieved frame’s score</a:t>
            </a:r>
          </a:p>
          <a:p>
            <a:pPr algn="l"/>
            <a:r>
              <a:rPr lang="en-US" sz="700" b="1" dirty="0"/>
              <a:t>2. Cheap LLM classifier.</a:t>
            </a:r>
            <a:r>
              <a:rPr lang="en-US" sz="700" dirty="0"/>
              <a:t> Small LLM tags query as direct or complex.</a:t>
            </a:r>
          </a:p>
          <a:p>
            <a:pPr algn="l"/>
            <a:r>
              <a:rPr lang="en-US" sz="700" b="1" dirty="0"/>
              <a:t>3. Trained classifier.</a:t>
            </a:r>
            <a:r>
              <a:rPr lang="en-US" sz="700" dirty="0"/>
              <a:t> Fine-tuned text encoder for queries</a:t>
            </a:r>
            <a:endParaRPr lang="en-US" sz="7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8CA0B8E-E347-59B4-F39A-D806AB4A21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1774" y="4388356"/>
            <a:ext cx="1364041" cy="224835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599038-BBE8-1EC6-EEEE-72F8682B9A3E}"/>
              </a:ext>
            </a:extLst>
          </p:cNvPr>
          <p:cNvCxnSpPr>
            <a:cxnSpLocks/>
          </p:cNvCxnSpPr>
          <p:nvPr/>
        </p:nvCxnSpPr>
        <p:spPr>
          <a:xfrm>
            <a:off x="4491400" y="4062515"/>
            <a:ext cx="835" cy="2795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820F016E-D764-E8F2-5556-55898F28B0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7371" y="4113862"/>
            <a:ext cx="1651917" cy="15714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D24F5D-E56F-E5A4-468E-C85CCA49E4C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4353" y="5777943"/>
            <a:ext cx="1707145" cy="92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5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7F3DFCA-32D8-F64F-BB75-4A6FA181945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b37f836-808c-4ea9-913a-4eda97fd416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2521</TotalTime>
  <Words>831</Words>
  <Application>Microsoft Macintosh PowerPoint</Application>
  <PresentationFormat>On-screen Show (4:3)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-apple-system</vt:lpstr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BoleiZhou</dc:creator>
  <cp:lastModifiedBy>Edison Zhu</cp:lastModifiedBy>
  <cp:revision>33</cp:revision>
  <cp:lastPrinted>2026-04-27T20:19:33Z</cp:lastPrinted>
  <dcterms:created xsi:type="dcterms:W3CDTF">2016-06-16T04:05:27Z</dcterms:created>
  <dcterms:modified xsi:type="dcterms:W3CDTF">2026-04-27T20:24:10Z</dcterms:modified>
</cp:coreProperties>
</file>